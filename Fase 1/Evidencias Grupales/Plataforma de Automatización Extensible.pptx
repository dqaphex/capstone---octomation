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Inter" panose="020B0604020202020204" charset="0"/>
      <p:regular r:id="rId17"/>
    </p:embeddedFont>
    <p:embeddedFont>
      <p:font typeface="Telegraf" panose="020B0604020202020204" charset="0"/>
      <p:regular r:id="rId18"/>
    </p:embeddedFont>
    <p:embeddedFont>
      <p:font typeface="Telegraf Medium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24000" y="2501710"/>
            <a:ext cx="13972173" cy="5230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25"/>
              </a:lnSpc>
            </a:pPr>
            <a:r>
              <a:rPr lang="en-US" sz="13257" b="1" spc="-928">
                <a:solidFill>
                  <a:srgbClr val="46464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Plataforma de Automatización en Python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39250" y="2496514"/>
            <a:ext cx="589339" cy="589339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1526447" y="1483859"/>
            <a:ext cx="1523755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7" name="AutoShape 7"/>
          <p:cNvSpPr/>
          <p:nvPr/>
        </p:nvSpPr>
        <p:spPr>
          <a:xfrm>
            <a:off x="1524000" y="1483859"/>
            <a:ext cx="1524000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8" name="AutoShape 8"/>
          <p:cNvSpPr/>
          <p:nvPr/>
        </p:nvSpPr>
        <p:spPr>
          <a:xfrm>
            <a:off x="10036883" y="8405831"/>
            <a:ext cx="6727117" cy="0"/>
          </a:xfrm>
          <a:prstGeom prst="line">
            <a:avLst/>
          </a:prstGeom>
          <a:ln w="19050" cap="flat">
            <a:solidFill>
              <a:srgbClr val="46464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9" name="AutoShape 9"/>
          <p:cNvSpPr/>
          <p:nvPr/>
        </p:nvSpPr>
        <p:spPr>
          <a:xfrm>
            <a:off x="10036883" y="9248775"/>
            <a:ext cx="6727117" cy="0"/>
          </a:xfrm>
          <a:prstGeom prst="line">
            <a:avLst/>
          </a:prstGeom>
          <a:ln w="19050" cap="flat">
            <a:solidFill>
              <a:srgbClr val="46464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Box 10"/>
          <p:cNvSpPr txBox="1"/>
          <p:nvPr/>
        </p:nvSpPr>
        <p:spPr>
          <a:xfrm>
            <a:off x="10608753" y="7914097"/>
            <a:ext cx="4028405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464646"/>
                </a:solidFill>
                <a:latin typeface="Telegraf"/>
                <a:ea typeface="Telegraf"/>
                <a:cs typeface="Telegraf"/>
                <a:sym typeface="Telegraf"/>
              </a:rPr>
              <a:t>Santiago Santander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596196" y="8747199"/>
            <a:ext cx="4344851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464646"/>
                </a:solidFill>
                <a:latin typeface="Telegraf"/>
                <a:ea typeface="Telegraf"/>
                <a:cs typeface="Telegraf"/>
                <a:sym typeface="Telegraf"/>
              </a:rPr>
              <a:t>Diego Quioza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082669" y="7980772"/>
            <a:ext cx="293972" cy="29397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082669" y="8768915"/>
            <a:ext cx="293972" cy="293972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26447" y="6073166"/>
            <a:ext cx="6459893" cy="2370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60"/>
              </a:lnSpc>
            </a:pPr>
            <a:r>
              <a:rPr lang="en-US" sz="9517" b="1" spc="-666">
                <a:solidFill>
                  <a:srgbClr val="46464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Resumen Ejecutivo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857587" y="5901716"/>
            <a:ext cx="408376" cy="40837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5201" tIns="35201" rIns="35201" bIns="35201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040434" y="7000699"/>
            <a:ext cx="5066031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64646"/>
                </a:solidFill>
                <a:latin typeface="Telegraf"/>
                <a:ea typeface="Telegraf"/>
                <a:cs typeface="Telegraf"/>
                <a:sym typeface="Telegraf"/>
              </a:rPr>
              <a:t>Plataforma de Automatización en Python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41747" y="7473133"/>
            <a:ext cx="7122253" cy="2652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34" lvl="1" indent="-183517" algn="just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Problema/Oportunidad: Necesidad de ejecutar procesos automatizados de forma escalable sin acoplar la lógica de negocio al núcleo de la plataforma.</a:t>
            </a:r>
          </a:p>
          <a:p>
            <a:pPr marL="367034" lvl="1" indent="-183517" algn="just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Solución propuesta: Un framework extensible basado en Python con microservicios y runtime dinámico.</a:t>
            </a:r>
          </a:p>
          <a:p>
            <a:pPr marL="367034" lvl="1" indent="-183517" algn="just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Diferenciadores Clave: Separación estricta entre núcleo y procesos, ejecución distribuida asíncrona y modelo SaaS multi-tenant.</a:t>
            </a:r>
          </a:p>
          <a:p>
            <a:pPr algn="just">
              <a:lnSpc>
                <a:spcPts val="2380"/>
              </a:lnSpc>
              <a:spcBef>
                <a:spcPct val="0"/>
              </a:spcBef>
            </a:pPr>
            <a:endParaRPr lang="en-US" sz="1700">
              <a:solidFill>
                <a:srgbClr val="46464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9641747" y="7076899"/>
            <a:ext cx="293972" cy="29397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AutoShape 11"/>
          <p:cNvSpPr/>
          <p:nvPr/>
        </p:nvSpPr>
        <p:spPr>
          <a:xfrm>
            <a:off x="1526447" y="1483859"/>
            <a:ext cx="1523755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12" name="Group 12"/>
          <p:cNvGrpSpPr/>
          <p:nvPr/>
        </p:nvGrpSpPr>
        <p:grpSpPr>
          <a:xfrm>
            <a:off x="1524000" y="2295881"/>
            <a:ext cx="15240000" cy="2847619"/>
            <a:chOff x="0" y="0"/>
            <a:chExt cx="2361075" cy="44117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61075" cy="441171"/>
            </a:xfrm>
            <a:custGeom>
              <a:avLst/>
              <a:gdLst/>
              <a:ahLst/>
              <a:cxnLst/>
              <a:rect l="l" t="t" r="r" b="b"/>
              <a:pathLst>
                <a:path w="2361075" h="441171">
                  <a:moveTo>
                    <a:pt x="4064" y="0"/>
                  </a:moveTo>
                  <a:lnTo>
                    <a:pt x="2357011" y="0"/>
                  </a:lnTo>
                  <a:cubicBezTo>
                    <a:pt x="2359255" y="0"/>
                    <a:pt x="2361075" y="1820"/>
                    <a:pt x="2361075" y="4064"/>
                  </a:cubicBezTo>
                  <a:lnTo>
                    <a:pt x="2361075" y="437107"/>
                  </a:lnTo>
                  <a:cubicBezTo>
                    <a:pt x="2361075" y="438185"/>
                    <a:pt x="2360647" y="439218"/>
                    <a:pt x="2359885" y="439980"/>
                  </a:cubicBezTo>
                  <a:cubicBezTo>
                    <a:pt x="2359122" y="440743"/>
                    <a:pt x="2358089" y="441171"/>
                    <a:pt x="2357011" y="441171"/>
                  </a:cubicBezTo>
                  <a:lnTo>
                    <a:pt x="4064" y="441171"/>
                  </a:lnTo>
                  <a:cubicBezTo>
                    <a:pt x="1820" y="441171"/>
                    <a:pt x="0" y="439351"/>
                    <a:pt x="0" y="437107"/>
                  </a:cubicBezTo>
                  <a:lnTo>
                    <a:pt x="0" y="4064"/>
                  </a:lnTo>
                  <a:cubicBezTo>
                    <a:pt x="0" y="1820"/>
                    <a:pt x="1820" y="0"/>
                    <a:pt x="4064" y="0"/>
                  </a:cubicBezTo>
                  <a:close/>
                </a:path>
              </a:pathLst>
            </a:custGeom>
            <a:blipFill>
              <a:blip r:embed="rId2"/>
              <a:stretch>
                <a:fillRect t="-217591" b="-217591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4" name="AutoShape 14"/>
          <p:cNvSpPr/>
          <p:nvPr/>
        </p:nvSpPr>
        <p:spPr>
          <a:xfrm>
            <a:off x="1524000" y="1483859"/>
            <a:ext cx="3048000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95967" y="5143500"/>
            <a:ext cx="6988889" cy="358140"/>
            <a:chOff x="0" y="0"/>
            <a:chExt cx="9318519" cy="47752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42803"/>
              <a:ext cx="391963" cy="391963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531810" y="-47625"/>
              <a:ext cx="8786708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spc="-129">
                  <a:solidFill>
                    <a:srgbClr val="464646"/>
                  </a:solidFill>
                  <a:latin typeface="Inter"/>
                  <a:ea typeface="Inter"/>
                  <a:cs typeface="Inter"/>
                  <a:sym typeface="Inter"/>
                </a:rPr>
                <a:t> Alcance General y Módulos Incluidos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24000" y="2500069"/>
            <a:ext cx="6304519" cy="6758231"/>
            <a:chOff x="0" y="0"/>
            <a:chExt cx="976735" cy="10470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76735" cy="1047027"/>
            </a:xfrm>
            <a:custGeom>
              <a:avLst/>
              <a:gdLst/>
              <a:ahLst/>
              <a:cxnLst/>
              <a:rect l="l" t="t" r="r" b="b"/>
              <a:pathLst>
                <a:path w="976735" h="1047027">
                  <a:moveTo>
                    <a:pt x="9824" y="0"/>
                  </a:moveTo>
                  <a:lnTo>
                    <a:pt x="966911" y="0"/>
                  </a:lnTo>
                  <a:cubicBezTo>
                    <a:pt x="972336" y="0"/>
                    <a:pt x="976735" y="4398"/>
                    <a:pt x="976735" y="9824"/>
                  </a:cubicBezTo>
                  <a:lnTo>
                    <a:pt x="976735" y="1037203"/>
                  </a:lnTo>
                  <a:cubicBezTo>
                    <a:pt x="976735" y="1042628"/>
                    <a:pt x="972336" y="1047027"/>
                    <a:pt x="966911" y="1047027"/>
                  </a:cubicBezTo>
                  <a:lnTo>
                    <a:pt x="9824" y="1047027"/>
                  </a:lnTo>
                  <a:cubicBezTo>
                    <a:pt x="4398" y="1047027"/>
                    <a:pt x="0" y="1042628"/>
                    <a:pt x="0" y="1037203"/>
                  </a:cubicBezTo>
                  <a:lnTo>
                    <a:pt x="0" y="9824"/>
                  </a:lnTo>
                  <a:cubicBezTo>
                    <a:pt x="0" y="4398"/>
                    <a:pt x="4398" y="0"/>
                    <a:pt x="9824" y="0"/>
                  </a:cubicBezTo>
                  <a:close/>
                </a:path>
              </a:pathLst>
            </a:custGeom>
            <a:blipFill>
              <a:blip r:embed="rId2"/>
              <a:stretch>
                <a:fillRect l="-3598" r="-3598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9" name="AutoShape 9"/>
          <p:cNvSpPr/>
          <p:nvPr/>
        </p:nvSpPr>
        <p:spPr>
          <a:xfrm>
            <a:off x="1526447" y="1483859"/>
            <a:ext cx="1523755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0" name="AutoShape 10"/>
          <p:cNvSpPr/>
          <p:nvPr/>
        </p:nvSpPr>
        <p:spPr>
          <a:xfrm>
            <a:off x="1524000" y="1483859"/>
            <a:ext cx="4572000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Box 11"/>
          <p:cNvSpPr txBox="1"/>
          <p:nvPr/>
        </p:nvSpPr>
        <p:spPr>
          <a:xfrm>
            <a:off x="8795967" y="1889547"/>
            <a:ext cx="7763845" cy="2370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60"/>
              </a:lnSpc>
            </a:pPr>
            <a:r>
              <a:rPr lang="en-US" sz="9517" b="1" spc="-666" dirty="0">
                <a:solidFill>
                  <a:srgbClr val="46464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ALCANCE DEL PROYECTO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6355624" y="2500069"/>
            <a:ext cx="408376" cy="408376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5201" tIns="35201" rIns="35201" bIns="35201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808083" y="5866731"/>
            <a:ext cx="7955917" cy="3242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34" lvl="1" indent="-183517" algn="just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Dentro del Alcance (In-Scope):</a:t>
            </a:r>
          </a:p>
          <a:p>
            <a:pPr marL="734068" lvl="2" indent="-244689" algn="just">
              <a:lnSpc>
                <a:spcPts val="2380"/>
              </a:lnSpc>
              <a:buFont typeface="Arial"/>
              <a:buChar char="⚬"/>
            </a:pPr>
            <a:r>
              <a:rPr lang="en-US" sz="17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Administración centralizada de usuarios, organizaciones y suscripciones.</a:t>
            </a:r>
          </a:p>
          <a:p>
            <a:pPr marL="734068" lvl="2" indent="-244689" algn="just">
              <a:lnSpc>
                <a:spcPts val="2380"/>
              </a:lnSpc>
              <a:buFont typeface="Arial"/>
              <a:buChar char="⚬"/>
            </a:pPr>
            <a:r>
              <a:rPr lang="en-US" sz="17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Gestión del ciclo de vida de automatizaciones distribuidas como Plugins.</a:t>
            </a:r>
          </a:p>
          <a:p>
            <a:pPr marL="734068" lvl="2" indent="-244689" algn="just">
              <a:lnSpc>
                <a:spcPts val="2380"/>
              </a:lnSpc>
              <a:spcBef>
                <a:spcPct val="0"/>
              </a:spcBef>
              <a:buFont typeface="Arial"/>
              <a:buChar char="⚬"/>
            </a:pPr>
            <a:r>
              <a:rPr lang="en-US" sz="17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Motor de orquestación asíncrono (Scheduler, Queue, Workers).</a:t>
            </a:r>
          </a:p>
          <a:p>
            <a:pPr marL="734068" lvl="2" indent="-244689" algn="just">
              <a:lnSpc>
                <a:spcPts val="2380"/>
              </a:lnSpc>
              <a:spcBef>
                <a:spcPct val="0"/>
              </a:spcBef>
              <a:buFont typeface="Arial"/>
              <a:buChar char="⚬"/>
            </a:pPr>
            <a:r>
              <a:rPr lang="en-US" sz="17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Almacenamiento desacoplado (Base de Datos para Metadata + Object Storage para Archivos).</a:t>
            </a:r>
          </a:p>
          <a:p>
            <a:pPr marL="367034" lvl="1" indent="-183517" algn="just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Fuera del Alcance MVP: Sandboxing avanzado con contenedores aislados dinámicos por ejecución (proyectado para fase futura).</a:t>
            </a:r>
          </a:p>
          <a:p>
            <a:pPr algn="just">
              <a:lnSpc>
                <a:spcPts val="2380"/>
              </a:lnSpc>
              <a:spcBef>
                <a:spcPct val="0"/>
              </a:spcBef>
            </a:pPr>
            <a:endParaRPr lang="en-US" sz="1700">
              <a:solidFill>
                <a:srgbClr val="46464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95967" y="5143500"/>
            <a:ext cx="6988889" cy="358140"/>
            <a:chOff x="0" y="0"/>
            <a:chExt cx="9318519" cy="47752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42803"/>
              <a:ext cx="391963" cy="391963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531810" y="-47625"/>
              <a:ext cx="8786708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spc="-129">
                  <a:solidFill>
                    <a:srgbClr val="464646"/>
                  </a:solidFill>
                  <a:latin typeface="Inter"/>
                  <a:ea typeface="Inter"/>
                  <a:cs typeface="Inter"/>
                  <a:sym typeface="Inter"/>
                </a:rPr>
                <a:t>Principios Guía de Diseño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24000" y="2500069"/>
            <a:ext cx="6304519" cy="6758231"/>
            <a:chOff x="0" y="0"/>
            <a:chExt cx="976735" cy="10470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76735" cy="1047027"/>
            </a:xfrm>
            <a:custGeom>
              <a:avLst/>
              <a:gdLst/>
              <a:ahLst/>
              <a:cxnLst/>
              <a:rect l="l" t="t" r="r" b="b"/>
              <a:pathLst>
                <a:path w="976735" h="1047027">
                  <a:moveTo>
                    <a:pt x="9824" y="0"/>
                  </a:moveTo>
                  <a:lnTo>
                    <a:pt x="966911" y="0"/>
                  </a:lnTo>
                  <a:cubicBezTo>
                    <a:pt x="972336" y="0"/>
                    <a:pt x="976735" y="4398"/>
                    <a:pt x="976735" y="9824"/>
                  </a:cubicBezTo>
                  <a:lnTo>
                    <a:pt x="976735" y="1037203"/>
                  </a:lnTo>
                  <a:cubicBezTo>
                    <a:pt x="976735" y="1042628"/>
                    <a:pt x="972336" y="1047027"/>
                    <a:pt x="966911" y="1047027"/>
                  </a:cubicBezTo>
                  <a:lnTo>
                    <a:pt x="9824" y="1047027"/>
                  </a:lnTo>
                  <a:cubicBezTo>
                    <a:pt x="4398" y="1047027"/>
                    <a:pt x="0" y="1042628"/>
                    <a:pt x="0" y="1037203"/>
                  </a:cubicBezTo>
                  <a:lnTo>
                    <a:pt x="0" y="9824"/>
                  </a:lnTo>
                  <a:cubicBezTo>
                    <a:pt x="0" y="4398"/>
                    <a:pt x="4398" y="0"/>
                    <a:pt x="9824" y="0"/>
                  </a:cubicBezTo>
                  <a:close/>
                </a:path>
              </a:pathLst>
            </a:custGeom>
            <a:blipFill>
              <a:blip r:embed="rId2"/>
              <a:stretch>
                <a:fillRect l="-3598" r="-3598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9" name="AutoShape 9"/>
          <p:cNvSpPr/>
          <p:nvPr/>
        </p:nvSpPr>
        <p:spPr>
          <a:xfrm>
            <a:off x="1526447" y="1483859"/>
            <a:ext cx="1523755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0" name="AutoShape 10"/>
          <p:cNvSpPr/>
          <p:nvPr/>
        </p:nvSpPr>
        <p:spPr>
          <a:xfrm>
            <a:off x="1524000" y="1483859"/>
            <a:ext cx="4572000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Box 11"/>
          <p:cNvSpPr txBox="1"/>
          <p:nvPr/>
        </p:nvSpPr>
        <p:spPr>
          <a:xfrm>
            <a:off x="8795967" y="2671519"/>
            <a:ext cx="8081535" cy="2370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60"/>
              </a:lnSpc>
            </a:pPr>
            <a:r>
              <a:rPr lang="en-US" sz="9517" b="1" spc="-666">
                <a:solidFill>
                  <a:srgbClr val="46464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Principios Arquitectónicos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6355624" y="2500069"/>
            <a:ext cx="408376" cy="408376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5201" tIns="35201" rIns="35201" bIns="35201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795967" y="5841085"/>
            <a:ext cx="7955917" cy="2652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34" lvl="1" indent="-183517" algn="just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Modularidad y Cohesión: Servicios organizados por dominios de negocio específicos.</a:t>
            </a:r>
          </a:p>
          <a:p>
            <a:pPr marL="367034" lvl="1" indent="-183517" algn="just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Bajo Acoplamiento y Extensibilidad: Agregar una nueva automatización no requiere modificar el código del Platform Core.</a:t>
            </a:r>
          </a:p>
          <a:p>
            <a:pPr marL="367034" lvl="1" indent="-183517" algn="just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Escalabilidad Independiente: Capacidad de escalar el pool de Workers sin afectar el rendimiento de la API principal.</a:t>
            </a:r>
          </a:p>
          <a:p>
            <a:pPr marL="367034" lvl="1" indent="-183517" algn="just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Seguridad y Versionado: Permisos granulares (RBAC) y contratos versionados.</a:t>
            </a:r>
          </a:p>
          <a:p>
            <a:pPr algn="just">
              <a:lnSpc>
                <a:spcPts val="2380"/>
              </a:lnSpc>
              <a:spcBef>
                <a:spcPct val="0"/>
              </a:spcBef>
            </a:pPr>
            <a:endParaRPr lang="en-US" sz="1700">
              <a:solidFill>
                <a:srgbClr val="46464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0074" y="819726"/>
            <a:ext cx="293972" cy="29397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526447" y="1483859"/>
            <a:ext cx="1523755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6" name="AutoShape 6"/>
          <p:cNvSpPr/>
          <p:nvPr/>
        </p:nvSpPr>
        <p:spPr>
          <a:xfrm>
            <a:off x="1524000" y="1483859"/>
            <a:ext cx="6096000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1076296" y="324952"/>
            <a:ext cx="15924612" cy="11589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660"/>
              </a:lnSpc>
            </a:pPr>
            <a:r>
              <a:rPr lang="en-US" sz="9517" b="1" spc="-666" dirty="0">
                <a:solidFill>
                  <a:srgbClr val="46464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Visión Global de la Plataforma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6322309" y="161193"/>
            <a:ext cx="408376" cy="40837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5201" tIns="35201" rIns="35201" bIns="35201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318734" y="1675301"/>
            <a:ext cx="17650531" cy="7582999"/>
          </a:xfrm>
          <a:custGeom>
            <a:avLst/>
            <a:gdLst/>
            <a:ahLst/>
            <a:cxnLst/>
            <a:rect l="l" t="t" r="r" b="b"/>
            <a:pathLst>
              <a:path w="17650531" h="7582999">
                <a:moveTo>
                  <a:pt x="0" y="0"/>
                </a:moveTo>
                <a:lnTo>
                  <a:pt x="17650532" y="0"/>
                </a:lnTo>
                <a:lnTo>
                  <a:pt x="17650532" y="7582999"/>
                </a:lnTo>
                <a:lnTo>
                  <a:pt x="0" y="75829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6447" y="4224665"/>
            <a:ext cx="293972" cy="29397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735667" y="2500069"/>
            <a:ext cx="7028333" cy="6462993"/>
            <a:chOff x="0" y="0"/>
            <a:chExt cx="1088873" cy="100128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88873" cy="1001287"/>
            </a:xfrm>
            <a:custGeom>
              <a:avLst/>
              <a:gdLst/>
              <a:ahLst/>
              <a:cxnLst/>
              <a:rect l="l" t="t" r="r" b="b"/>
              <a:pathLst>
                <a:path w="1088873" h="1001287">
                  <a:moveTo>
                    <a:pt x="0" y="0"/>
                  </a:moveTo>
                  <a:lnTo>
                    <a:pt x="1088873" y="0"/>
                  </a:lnTo>
                  <a:lnTo>
                    <a:pt x="1088873" y="1001287"/>
                  </a:lnTo>
                  <a:lnTo>
                    <a:pt x="0" y="1001287"/>
                  </a:lnTo>
                  <a:close/>
                </a:path>
              </a:pathLst>
            </a:custGeom>
            <a:blipFill>
              <a:blip r:embed="rId2"/>
              <a:stretch>
                <a:fillRect t="-4373" b="-4373"/>
              </a:stretch>
            </a:blipFill>
            <a:ln w="19050" cap="sq">
              <a:solidFill>
                <a:srgbClr val="464646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7" name="AutoShape 7"/>
          <p:cNvSpPr/>
          <p:nvPr/>
        </p:nvSpPr>
        <p:spPr>
          <a:xfrm>
            <a:off x="1526447" y="1483859"/>
            <a:ext cx="1523755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8" name="AutoShape 8"/>
          <p:cNvSpPr/>
          <p:nvPr/>
        </p:nvSpPr>
        <p:spPr>
          <a:xfrm>
            <a:off x="1524000" y="1483859"/>
            <a:ext cx="7621223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Box 9"/>
          <p:cNvSpPr txBox="1"/>
          <p:nvPr/>
        </p:nvSpPr>
        <p:spPr>
          <a:xfrm>
            <a:off x="1526447" y="2671519"/>
            <a:ext cx="7763845" cy="1274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60"/>
              </a:lnSpc>
            </a:pPr>
            <a:r>
              <a:rPr lang="en-US" sz="9517" b="1" spc="-666">
                <a:solidFill>
                  <a:srgbClr val="46464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API Gateway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475190" y="2500069"/>
            <a:ext cx="408376" cy="408376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5201" tIns="35201" rIns="35201" bIns="35201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820419" y="4112872"/>
            <a:ext cx="590321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12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API Gateway y Enrutamiento Centralizado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24000" y="4774541"/>
            <a:ext cx="7345003" cy="2061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34" lvl="1" indent="-183517" algn="just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Responsabilidades:</a:t>
            </a:r>
          </a:p>
          <a:p>
            <a:pPr marL="734068" lvl="2" indent="-244689" algn="just">
              <a:lnSpc>
                <a:spcPts val="2380"/>
              </a:lnSpc>
              <a:buFont typeface="Arial"/>
              <a:buChar char="⚬"/>
            </a:pPr>
            <a:r>
              <a:rPr lang="en-US" sz="17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Punto único de entrada para solicitudes de clientes.</a:t>
            </a:r>
          </a:p>
          <a:p>
            <a:pPr marL="734068" lvl="2" indent="-244689" algn="just">
              <a:lnSpc>
                <a:spcPts val="2380"/>
              </a:lnSpc>
              <a:buFont typeface="Arial"/>
              <a:buChar char="⚬"/>
            </a:pPr>
            <a:r>
              <a:rPr lang="en-US" sz="17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Autenticación síncrona y enrutamiento a microservicios.</a:t>
            </a:r>
          </a:p>
          <a:p>
            <a:pPr marL="734068" lvl="2" indent="-244689" algn="just">
              <a:lnSpc>
                <a:spcPts val="2380"/>
              </a:lnSpc>
              <a:spcBef>
                <a:spcPct val="0"/>
              </a:spcBef>
              <a:buFont typeface="Arial"/>
              <a:buChar char="⚬"/>
            </a:pPr>
            <a:r>
              <a:rPr lang="en-US" sz="17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Aplicación de políticas comunes (CORS, Rate Limiting, Logging).</a:t>
            </a:r>
          </a:p>
          <a:p>
            <a:pPr marL="367034" lvl="1" indent="-183517" algn="just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Rutas Principales: /auth, /organizations, /plugins, /automations, /marketplace, /billing, /storage.</a:t>
            </a:r>
          </a:p>
          <a:p>
            <a:pPr algn="just">
              <a:lnSpc>
                <a:spcPts val="2380"/>
              </a:lnSpc>
              <a:spcBef>
                <a:spcPct val="0"/>
              </a:spcBef>
            </a:pPr>
            <a:endParaRPr lang="en-US" sz="1700">
              <a:solidFill>
                <a:srgbClr val="46464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6447" y="4987723"/>
            <a:ext cx="293972" cy="29397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735667" y="4955621"/>
            <a:ext cx="7028333" cy="3861808"/>
            <a:chOff x="0" y="0"/>
            <a:chExt cx="1088873" cy="59829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88873" cy="598295"/>
            </a:xfrm>
            <a:custGeom>
              <a:avLst/>
              <a:gdLst/>
              <a:ahLst/>
              <a:cxnLst/>
              <a:rect l="l" t="t" r="r" b="b"/>
              <a:pathLst>
                <a:path w="1088873" h="598295">
                  <a:moveTo>
                    <a:pt x="0" y="0"/>
                  </a:moveTo>
                  <a:lnTo>
                    <a:pt x="1088873" y="0"/>
                  </a:lnTo>
                  <a:lnTo>
                    <a:pt x="1088873" y="598295"/>
                  </a:lnTo>
                  <a:lnTo>
                    <a:pt x="0" y="598295"/>
                  </a:lnTo>
                  <a:close/>
                </a:path>
              </a:pathLst>
            </a:custGeom>
            <a:blipFill>
              <a:blip r:embed="rId2"/>
              <a:stretch>
                <a:fillRect t="-18248" b="-18248"/>
              </a:stretch>
            </a:blipFill>
            <a:ln w="19050" cap="sq">
              <a:solidFill>
                <a:srgbClr val="464646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7" name="AutoShape 7"/>
          <p:cNvSpPr/>
          <p:nvPr/>
        </p:nvSpPr>
        <p:spPr>
          <a:xfrm>
            <a:off x="1526447" y="1483859"/>
            <a:ext cx="1523755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8" name="AutoShape 8"/>
          <p:cNvSpPr/>
          <p:nvPr/>
        </p:nvSpPr>
        <p:spPr>
          <a:xfrm>
            <a:off x="1524000" y="1483859"/>
            <a:ext cx="9144000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Box 9"/>
          <p:cNvSpPr txBox="1"/>
          <p:nvPr/>
        </p:nvSpPr>
        <p:spPr>
          <a:xfrm>
            <a:off x="1538564" y="2251750"/>
            <a:ext cx="15240000" cy="3465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60"/>
              </a:lnSpc>
            </a:pPr>
            <a:r>
              <a:rPr lang="en-US" sz="9517" b="1" spc="-666">
                <a:solidFill>
                  <a:srgbClr val="46464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Gestión de Identidad y Tenancy</a:t>
            </a:r>
          </a:p>
          <a:p>
            <a:pPr algn="ctr">
              <a:lnSpc>
                <a:spcPts val="8660"/>
              </a:lnSpc>
            </a:pPr>
            <a:endParaRPr lang="en-US" sz="9517" b="1" spc="-666">
              <a:solidFill>
                <a:srgbClr val="464646"/>
              </a:solidFill>
              <a:latin typeface="Telegraf Medium"/>
              <a:ea typeface="Telegraf Medium"/>
              <a:cs typeface="Telegraf Medium"/>
              <a:sym typeface="Telegraf Medium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1234867" y="3317428"/>
            <a:ext cx="408376" cy="408376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5201" tIns="35201" rIns="35201" bIns="35201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925305" y="4907996"/>
            <a:ext cx="590321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12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Control de Acceso y Organizaciones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73433" y="5440178"/>
            <a:ext cx="7021709" cy="2061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34" lvl="1" indent="-183517" algn="just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Identity Service (IAM): Registro de usuarios, gestión de credenciales, tokens JWT y roles globales.</a:t>
            </a:r>
          </a:p>
          <a:p>
            <a:pPr marL="367034" lvl="1" indent="-183517" algn="just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Tenant / Organization Service:</a:t>
            </a:r>
          </a:p>
          <a:p>
            <a:pPr marL="734068" lvl="2" indent="-244689" algn="just">
              <a:lnSpc>
                <a:spcPts val="2380"/>
              </a:lnSpc>
              <a:spcBef>
                <a:spcPct val="0"/>
              </a:spcBef>
              <a:buFont typeface="Arial"/>
              <a:buChar char="⚬"/>
            </a:pPr>
            <a:r>
              <a:rPr lang="en-US" sz="17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Creación y gestión de Workspaces aislados.</a:t>
            </a:r>
          </a:p>
          <a:p>
            <a:pPr marL="734068" lvl="2" indent="-244689" algn="just">
              <a:lnSpc>
                <a:spcPts val="2380"/>
              </a:lnSpc>
              <a:spcBef>
                <a:spcPct val="0"/>
              </a:spcBef>
              <a:buFont typeface="Arial"/>
              <a:buChar char="⚬"/>
            </a:pPr>
            <a:r>
              <a:rPr lang="en-US" sz="17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Gestión de organizaciones, invitaciones y membresías de usuarios.</a:t>
            </a:r>
          </a:p>
          <a:p>
            <a:pPr algn="just">
              <a:lnSpc>
                <a:spcPts val="2380"/>
              </a:lnSpc>
              <a:spcBef>
                <a:spcPct val="0"/>
              </a:spcBef>
            </a:pPr>
            <a:endParaRPr lang="en-US" sz="1700">
              <a:solidFill>
                <a:srgbClr val="46464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2685" y="5068761"/>
            <a:ext cx="293972" cy="29397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526447" y="1483859"/>
            <a:ext cx="1523755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6" name="AutoShape 6"/>
          <p:cNvSpPr/>
          <p:nvPr/>
        </p:nvSpPr>
        <p:spPr>
          <a:xfrm>
            <a:off x="1524000" y="1483859"/>
            <a:ext cx="9144000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2000536" y="3360090"/>
            <a:ext cx="14286929" cy="2369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60"/>
              </a:lnSpc>
            </a:pPr>
            <a:r>
              <a:rPr lang="en-US" sz="9517" b="1" spc="-666">
                <a:solidFill>
                  <a:srgbClr val="46464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Gestión del Ciclo de Vida de los Plugins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099789" y="2061795"/>
            <a:ext cx="408376" cy="40837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5201" tIns="35201" rIns="35201" bIns="35201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447412" y="1606248"/>
            <a:ext cx="15240000" cy="1727847"/>
          </a:xfrm>
          <a:custGeom>
            <a:avLst/>
            <a:gdLst/>
            <a:ahLst/>
            <a:cxnLst/>
            <a:rect l="l" t="t" r="r" b="b"/>
            <a:pathLst>
              <a:path w="15240000" h="1727847">
                <a:moveTo>
                  <a:pt x="0" y="0"/>
                </a:moveTo>
                <a:lnTo>
                  <a:pt x="15240000" y="0"/>
                </a:lnTo>
                <a:lnTo>
                  <a:pt x="15240000" y="1727847"/>
                </a:lnTo>
                <a:lnTo>
                  <a:pt x="0" y="17278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TextBox 12"/>
          <p:cNvSpPr txBox="1"/>
          <p:nvPr/>
        </p:nvSpPr>
        <p:spPr>
          <a:xfrm>
            <a:off x="6675546" y="5777542"/>
            <a:ext cx="4783733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12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Control de Acceso y Organizaciones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33146" y="6399976"/>
            <a:ext cx="7021709" cy="1766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34" lvl="1" indent="-183517" algn="just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Diagrama del flujo de ciclo de vida: Upload &gt; Validación &gt; Extracción Metadata &gt; Registro &gt; Instalación &gt; Activación → Actualización → Desinstalación.</a:t>
            </a:r>
          </a:p>
          <a:p>
            <a:pPr marL="367034" lvl="1" indent="-183517" algn="just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Funcionalidad: Permite subir paquetes zip/tar, validar sus firmas y dependencias, y habilitarlos en la plataforma.</a:t>
            </a:r>
          </a:p>
          <a:p>
            <a:pPr algn="just">
              <a:lnSpc>
                <a:spcPts val="2380"/>
              </a:lnSpc>
              <a:spcBef>
                <a:spcPct val="0"/>
              </a:spcBef>
            </a:pPr>
            <a:endParaRPr lang="en-US" sz="1700">
              <a:solidFill>
                <a:srgbClr val="46464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6447" y="4987723"/>
            <a:ext cx="293972" cy="29397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735667" y="4955621"/>
            <a:ext cx="7028333" cy="3861808"/>
            <a:chOff x="0" y="0"/>
            <a:chExt cx="1088873" cy="59829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88873" cy="598295"/>
            </a:xfrm>
            <a:custGeom>
              <a:avLst/>
              <a:gdLst/>
              <a:ahLst/>
              <a:cxnLst/>
              <a:rect l="l" t="t" r="r" b="b"/>
              <a:pathLst>
                <a:path w="1088873" h="598295">
                  <a:moveTo>
                    <a:pt x="0" y="0"/>
                  </a:moveTo>
                  <a:lnTo>
                    <a:pt x="1088873" y="0"/>
                  </a:lnTo>
                  <a:lnTo>
                    <a:pt x="1088873" y="598295"/>
                  </a:lnTo>
                  <a:lnTo>
                    <a:pt x="0" y="598295"/>
                  </a:lnTo>
                  <a:close/>
                </a:path>
              </a:pathLst>
            </a:custGeom>
            <a:blipFill>
              <a:blip r:embed="rId2"/>
              <a:stretch>
                <a:fillRect t="-10513" b="-10513"/>
              </a:stretch>
            </a:blipFill>
            <a:ln w="19050" cap="sq">
              <a:solidFill>
                <a:srgbClr val="464646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7" name="AutoShape 7"/>
          <p:cNvSpPr/>
          <p:nvPr/>
        </p:nvSpPr>
        <p:spPr>
          <a:xfrm>
            <a:off x="1526447" y="1483859"/>
            <a:ext cx="1523755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8" name="AutoShape 8"/>
          <p:cNvSpPr/>
          <p:nvPr/>
        </p:nvSpPr>
        <p:spPr>
          <a:xfrm>
            <a:off x="1524000" y="1483859"/>
            <a:ext cx="9144000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Box 9"/>
          <p:cNvSpPr txBox="1"/>
          <p:nvPr/>
        </p:nvSpPr>
        <p:spPr>
          <a:xfrm>
            <a:off x="1538564" y="2251750"/>
            <a:ext cx="15240000" cy="2369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60"/>
              </a:lnSpc>
            </a:pPr>
            <a:r>
              <a:rPr lang="en-US" sz="9517" b="1" spc="-666">
                <a:solidFill>
                  <a:srgbClr val="46464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Sistema Declarativo de Metadata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1673582" y="3347685"/>
            <a:ext cx="408376" cy="408376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5201" tIns="35201" rIns="35201" bIns="35201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925305" y="4907996"/>
            <a:ext cx="590321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12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Estructura Estándar de un Plugin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73433" y="5440178"/>
            <a:ext cx="7021709" cy="1766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34" lvl="1" indent="-183517" algn="l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Elementos que declara:</a:t>
            </a:r>
          </a:p>
          <a:p>
            <a:pPr marL="734068" lvl="2" indent="-244689" algn="l">
              <a:lnSpc>
                <a:spcPts val="2380"/>
              </a:lnSpc>
              <a:buFont typeface="Arial"/>
              <a:buChar char="⚬"/>
            </a:pPr>
            <a:r>
              <a:rPr lang="en-US" sz="17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Nombre, versión, descripción y autor.</a:t>
            </a:r>
          </a:p>
          <a:p>
            <a:pPr marL="734068" lvl="2" indent="-244689" algn="l">
              <a:lnSpc>
                <a:spcPts val="2380"/>
              </a:lnSpc>
              <a:buFont typeface="Arial"/>
              <a:buChar char="⚬"/>
            </a:pPr>
            <a:r>
              <a:rPr lang="en-US" sz="17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Permisos explícitos requeridos (Base de datos, Red, Sistema de archivos).</a:t>
            </a:r>
          </a:p>
          <a:p>
            <a:pPr marL="734068" lvl="2" indent="-244689" algn="l">
              <a:lnSpc>
                <a:spcPts val="2380"/>
              </a:lnSpc>
              <a:buFont typeface="Arial"/>
              <a:buChar char="⚬"/>
            </a:pPr>
            <a:r>
              <a:rPr lang="en-US" sz="17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Componentes activos (Rutas, Procesos de fondo, UI).</a:t>
            </a:r>
          </a:p>
          <a:p>
            <a:pPr algn="l">
              <a:lnSpc>
                <a:spcPts val="2380"/>
              </a:lnSpc>
            </a:pPr>
            <a:endParaRPr lang="en-US" sz="1700">
              <a:solidFill>
                <a:srgbClr val="46464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6447" y="4987723"/>
            <a:ext cx="293972" cy="29397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735667" y="4955621"/>
            <a:ext cx="7028333" cy="3861808"/>
            <a:chOff x="0" y="0"/>
            <a:chExt cx="1088873" cy="59829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88873" cy="598295"/>
            </a:xfrm>
            <a:custGeom>
              <a:avLst/>
              <a:gdLst/>
              <a:ahLst/>
              <a:cxnLst/>
              <a:rect l="l" t="t" r="r" b="b"/>
              <a:pathLst>
                <a:path w="1088873" h="598295">
                  <a:moveTo>
                    <a:pt x="0" y="0"/>
                  </a:moveTo>
                  <a:lnTo>
                    <a:pt x="1088873" y="0"/>
                  </a:lnTo>
                  <a:lnTo>
                    <a:pt x="1088873" y="598295"/>
                  </a:lnTo>
                  <a:lnTo>
                    <a:pt x="0" y="598295"/>
                  </a:lnTo>
                  <a:close/>
                </a:path>
              </a:pathLst>
            </a:custGeom>
            <a:blipFill>
              <a:blip r:embed="rId2"/>
              <a:stretch>
                <a:fillRect t="-5053" b="-5053"/>
              </a:stretch>
            </a:blipFill>
            <a:ln w="19050" cap="sq">
              <a:solidFill>
                <a:srgbClr val="464646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7" name="AutoShape 7"/>
          <p:cNvSpPr/>
          <p:nvPr/>
        </p:nvSpPr>
        <p:spPr>
          <a:xfrm>
            <a:off x="1526447" y="1483859"/>
            <a:ext cx="1523755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8" name="AutoShape 8"/>
          <p:cNvSpPr/>
          <p:nvPr/>
        </p:nvSpPr>
        <p:spPr>
          <a:xfrm>
            <a:off x="1524000" y="1483859"/>
            <a:ext cx="9144000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Box 9"/>
          <p:cNvSpPr txBox="1"/>
          <p:nvPr/>
        </p:nvSpPr>
        <p:spPr>
          <a:xfrm>
            <a:off x="1538564" y="2251750"/>
            <a:ext cx="15240000" cy="3465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60"/>
              </a:lnSpc>
            </a:pPr>
            <a:r>
              <a:rPr lang="en-US" sz="9517" b="1" spc="-666">
                <a:solidFill>
                  <a:srgbClr val="46464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Estrategia de Persistencia por Dominios</a:t>
            </a:r>
          </a:p>
          <a:p>
            <a:pPr algn="ctr">
              <a:lnSpc>
                <a:spcPts val="8660"/>
              </a:lnSpc>
            </a:pPr>
            <a:endParaRPr lang="en-US" sz="9517" b="1" spc="-666">
              <a:solidFill>
                <a:srgbClr val="464646"/>
              </a:solidFill>
              <a:latin typeface="Telegraf Medium"/>
              <a:ea typeface="Telegraf Medium"/>
              <a:cs typeface="Telegraf Medium"/>
              <a:sym typeface="Telegraf Medium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1673582" y="3347685"/>
            <a:ext cx="408376" cy="408376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5201" tIns="35201" rIns="35201" bIns="35201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925305" y="4907996"/>
            <a:ext cx="590321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12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Estructura Estándar de un Plugin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73433" y="5440178"/>
            <a:ext cx="7021709" cy="1766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34" lvl="1" indent="-183517" algn="l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Elementos que declara:</a:t>
            </a:r>
          </a:p>
          <a:p>
            <a:pPr marL="734068" lvl="2" indent="-244689" algn="l">
              <a:lnSpc>
                <a:spcPts val="2380"/>
              </a:lnSpc>
              <a:buFont typeface="Arial"/>
              <a:buChar char="⚬"/>
            </a:pPr>
            <a:r>
              <a:rPr lang="en-US" sz="17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Nombre, versión, descripción y autor.</a:t>
            </a:r>
          </a:p>
          <a:p>
            <a:pPr marL="734068" lvl="2" indent="-244689" algn="l">
              <a:lnSpc>
                <a:spcPts val="2380"/>
              </a:lnSpc>
              <a:buFont typeface="Arial"/>
              <a:buChar char="⚬"/>
            </a:pPr>
            <a:r>
              <a:rPr lang="en-US" sz="17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Permisos explícitos requeridos (Base de datos, Red, Sistema de archivos).</a:t>
            </a:r>
          </a:p>
          <a:p>
            <a:pPr marL="734068" lvl="2" indent="-244689" algn="l">
              <a:lnSpc>
                <a:spcPts val="2380"/>
              </a:lnSpc>
              <a:buFont typeface="Arial"/>
              <a:buChar char="⚬"/>
            </a:pPr>
            <a:r>
              <a:rPr lang="en-US" sz="17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Componentes activos (Rutas, Procesos de fondo, UI).</a:t>
            </a:r>
          </a:p>
          <a:p>
            <a:pPr algn="l">
              <a:lnSpc>
                <a:spcPts val="2380"/>
              </a:lnSpc>
            </a:pPr>
            <a:endParaRPr lang="en-US" sz="1700">
              <a:solidFill>
                <a:srgbClr val="46464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26447" y="1483859"/>
            <a:ext cx="1523755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3" name="AutoShape 3"/>
          <p:cNvSpPr/>
          <p:nvPr/>
        </p:nvSpPr>
        <p:spPr>
          <a:xfrm>
            <a:off x="1524000" y="1483859"/>
            <a:ext cx="9144000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1841690" y="123825"/>
            <a:ext cx="15240000" cy="1753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86"/>
              </a:lnSpc>
            </a:pPr>
            <a:r>
              <a:rPr lang="en-US" sz="7017" b="1" spc="-491">
                <a:solidFill>
                  <a:srgbClr val="46464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MODELO DE BASES DE DATOS Y DATOS</a:t>
            </a:r>
          </a:p>
          <a:p>
            <a:pPr algn="ctr">
              <a:lnSpc>
                <a:spcPts val="6386"/>
              </a:lnSpc>
            </a:pPr>
            <a:endParaRPr lang="en-US" sz="7017" b="1" spc="-491">
              <a:solidFill>
                <a:srgbClr val="464646"/>
              </a:solidFill>
              <a:latin typeface="Telegraf Medium"/>
              <a:ea typeface="Telegraf Medium"/>
              <a:cs typeface="Telegraf Medium"/>
              <a:sym typeface="Telegraf Medium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1673582" y="3347685"/>
            <a:ext cx="408376" cy="408376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5201" tIns="35201" rIns="35201" bIns="35201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972660" y="1599412"/>
            <a:ext cx="14978062" cy="8172152"/>
          </a:xfrm>
          <a:custGeom>
            <a:avLst/>
            <a:gdLst/>
            <a:ahLst/>
            <a:cxnLst/>
            <a:rect l="l" t="t" r="r" b="b"/>
            <a:pathLst>
              <a:path w="14978062" h="8172152">
                <a:moveTo>
                  <a:pt x="0" y="0"/>
                </a:moveTo>
                <a:lnTo>
                  <a:pt x="14978061" y="0"/>
                </a:lnTo>
                <a:lnTo>
                  <a:pt x="14978061" y="8172152"/>
                </a:lnTo>
                <a:lnTo>
                  <a:pt x="0" y="81721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0074" y="819726"/>
            <a:ext cx="293972" cy="29397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526447" y="1483859"/>
            <a:ext cx="1523755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6" name="AutoShape 6"/>
          <p:cNvSpPr/>
          <p:nvPr/>
        </p:nvSpPr>
        <p:spPr>
          <a:xfrm>
            <a:off x="1524000" y="1483859"/>
            <a:ext cx="6096000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1165879" y="299362"/>
            <a:ext cx="15772212" cy="11589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660"/>
              </a:lnSpc>
            </a:pPr>
            <a:r>
              <a:rPr lang="en-US" sz="9517" b="1" spc="-666" dirty="0">
                <a:solidFill>
                  <a:srgbClr val="46464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Visión Global de la Plataforma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6322309" y="161193"/>
            <a:ext cx="408376" cy="40837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5201" tIns="35201" rIns="35201" bIns="35201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-37949" y="3055517"/>
            <a:ext cx="18325949" cy="5083068"/>
          </a:xfrm>
          <a:custGeom>
            <a:avLst/>
            <a:gdLst/>
            <a:ahLst/>
            <a:cxnLst/>
            <a:rect l="l" t="t" r="r" b="b"/>
            <a:pathLst>
              <a:path w="18325949" h="5083068">
                <a:moveTo>
                  <a:pt x="0" y="0"/>
                </a:moveTo>
                <a:lnTo>
                  <a:pt x="18325949" y="0"/>
                </a:lnTo>
                <a:lnTo>
                  <a:pt x="18325949" y="5083068"/>
                </a:lnTo>
                <a:lnTo>
                  <a:pt x="0" y="50830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976"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37591" y="5207330"/>
            <a:ext cx="293972" cy="29397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73433" y="2241634"/>
            <a:ext cx="7470567" cy="6583466"/>
            <a:chOff x="0" y="0"/>
            <a:chExt cx="1157386" cy="10199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57386" cy="1019951"/>
            </a:xfrm>
            <a:custGeom>
              <a:avLst/>
              <a:gdLst/>
              <a:ahLst/>
              <a:cxnLst/>
              <a:rect l="l" t="t" r="r" b="b"/>
              <a:pathLst>
                <a:path w="1157386" h="1019951">
                  <a:moveTo>
                    <a:pt x="0" y="0"/>
                  </a:moveTo>
                  <a:lnTo>
                    <a:pt x="1157386" y="0"/>
                  </a:lnTo>
                  <a:lnTo>
                    <a:pt x="1157386" y="1019951"/>
                  </a:lnTo>
                  <a:lnTo>
                    <a:pt x="0" y="1019951"/>
                  </a:lnTo>
                  <a:close/>
                </a:path>
              </a:pathLst>
            </a:custGeom>
            <a:blipFill>
              <a:blip r:embed="rId2"/>
              <a:stretch>
                <a:fillRect l="-16011" r="-16011"/>
              </a:stretch>
            </a:blipFill>
            <a:ln w="19050" cap="sq">
              <a:solidFill>
                <a:srgbClr val="464646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7" name="AutoShape 7"/>
          <p:cNvSpPr/>
          <p:nvPr/>
        </p:nvSpPr>
        <p:spPr>
          <a:xfrm>
            <a:off x="1526447" y="1483859"/>
            <a:ext cx="1523755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8" name="AutoShape 8"/>
          <p:cNvSpPr/>
          <p:nvPr/>
        </p:nvSpPr>
        <p:spPr>
          <a:xfrm>
            <a:off x="1524000" y="1483859"/>
            <a:ext cx="12192000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9" name="Group 9"/>
          <p:cNvGrpSpPr/>
          <p:nvPr/>
        </p:nvGrpSpPr>
        <p:grpSpPr>
          <a:xfrm>
            <a:off x="10225475" y="2241365"/>
            <a:ext cx="6822150" cy="3645370"/>
            <a:chOff x="0" y="0"/>
            <a:chExt cx="9096199" cy="486049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33350"/>
              <a:ext cx="9096199" cy="47271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841"/>
                </a:lnSpc>
              </a:pPr>
              <a:r>
                <a:rPr lang="en-US" sz="7517" b="1" spc="-526">
                  <a:solidFill>
                    <a:srgbClr val="464646"/>
                  </a:solidFill>
                  <a:latin typeface="Telegraf Medium"/>
                  <a:ea typeface="Telegraf Medium"/>
                  <a:cs typeface="Telegraf Medium"/>
                  <a:sym typeface="Telegraf Medium"/>
                </a:rPr>
                <a:t>Multi-tenancy y Almacenamiento de Archivos</a:t>
              </a:r>
            </a:p>
            <a:p>
              <a:pPr algn="l">
                <a:lnSpc>
                  <a:spcPts val="6204"/>
                </a:lnSpc>
              </a:pPr>
              <a:endParaRPr lang="en-US" sz="7517" b="1" spc="-526">
                <a:solidFill>
                  <a:srgbClr val="464646"/>
                </a:solidFill>
                <a:latin typeface="Telegraf Medium"/>
                <a:ea typeface="Telegraf Medium"/>
                <a:cs typeface="Telegraf Medium"/>
                <a:sym typeface="Telegraf Medium"/>
              </a:endParaRP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8178287" y="0"/>
              <a:ext cx="609362" cy="544502"/>
              <a:chOff x="0" y="0"/>
              <a:chExt cx="90962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90962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909620" h="812800">
                    <a:moveTo>
                      <a:pt x="454810" y="0"/>
                    </a:moveTo>
                    <a:cubicBezTo>
                      <a:pt x="203625" y="0"/>
                      <a:pt x="0" y="181951"/>
                      <a:pt x="0" y="406400"/>
                    </a:cubicBezTo>
                    <a:cubicBezTo>
                      <a:pt x="0" y="630849"/>
                      <a:pt x="203625" y="812800"/>
                      <a:pt x="454810" y="812800"/>
                    </a:cubicBezTo>
                    <a:cubicBezTo>
                      <a:pt x="705995" y="812800"/>
                      <a:pt x="909620" y="630849"/>
                      <a:pt x="909620" y="406400"/>
                    </a:cubicBezTo>
                    <a:cubicBezTo>
                      <a:pt x="909620" y="181951"/>
                      <a:pt x="705995" y="0"/>
                      <a:pt x="45481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5277" y="38100"/>
                <a:ext cx="739066" cy="698500"/>
              </a:xfrm>
              <a:prstGeom prst="rect">
                <a:avLst/>
              </a:prstGeom>
            </p:spPr>
            <p:txBody>
              <a:bodyPr lIns="35201" tIns="35201" rIns="35201" bIns="35201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14" name="TextBox 14"/>
          <p:cNvSpPr txBox="1"/>
          <p:nvPr/>
        </p:nvSpPr>
        <p:spPr>
          <a:xfrm>
            <a:off x="10636449" y="5127602"/>
            <a:ext cx="590321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12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Aislamiento de Datos y Storage Service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125695" y="5689899"/>
            <a:ext cx="7021709" cy="2357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34" lvl="1" indent="-183517" algn="just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Multi-tenancy Riguroso:</a:t>
            </a:r>
          </a:p>
          <a:p>
            <a:pPr marL="734068" lvl="2" indent="-244689" algn="just">
              <a:lnSpc>
                <a:spcPts val="2380"/>
              </a:lnSpc>
              <a:buFont typeface="Arial"/>
              <a:buChar char="⚬"/>
            </a:pPr>
            <a:r>
              <a:rPr lang="en-US" sz="17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Toda consulta o transacción valida obligatoriamente el tenant_id / workspace_id.</a:t>
            </a:r>
          </a:p>
          <a:p>
            <a:pPr marL="367034" lvl="1" indent="-183517" algn="just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Storage Service (Separación de Datos Pesados):</a:t>
            </a:r>
          </a:p>
          <a:p>
            <a:pPr marL="734068" lvl="2" indent="-244689" algn="just">
              <a:lnSpc>
                <a:spcPts val="2380"/>
              </a:lnSpc>
              <a:spcBef>
                <a:spcPct val="0"/>
              </a:spcBef>
              <a:buFont typeface="Arial"/>
              <a:buChar char="⚬"/>
            </a:pPr>
            <a:r>
              <a:rPr lang="en-US" sz="17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Metadata y registros → Base de Datos Relacional.</a:t>
            </a:r>
          </a:p>
          <a:p>
            <a:pPr marL="734068" lvl="2" indent="-244689" algn="just">
              <a:lnSpc>
                <a:spcPts val="2380"/>
              </a:lnSpc>
              <a:spcBef>
                <a:spcPct val="0"/>
              </a:spcBef>
              <a:buFont typeface="Arial"/>
              <a:buChar char="⚬"/>
            </a:pPr>
            <a:r>
              <a:rPr lang="en-US" sz="17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Archivos, PDFs y payloads pesados → Object Storage (S3 / Blob Storage).</a:t>
            </a:r>
          </a:p>
          <a:p>
            <a:pPr algn="just">
              <a:lnSpc>
                <a:spcPts val="2380"/>
              </a:lnSpc>
              <a:spcBef>
                <a:spcPct val="0"/>
              </a:spcBef>
            </a:pPr>
            <a:endParaRPr lang="en-US" sz="1700">
              <a:solidFill>
                <a:srgbClr val="46464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9915" y="6052223"/>
            <a:ext cx="293972" cy="29397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24000" y="4802133"/>
            <a:ext cx="7470567" cy="4881831"/>
            <a:chOff x="0" y="0"/>
            <a:chExt cx="1157386" cy="7563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57386" cy="756323"/>
            </a:xfrm>
            <a:custGeom>
              <a:avLst/>
              <a:gdLst/>
              <a:ahLst/>
              <a:cxnLst/>
              <a:rect l="l" t="t" r="r" b="b"/>
              <a:pathLst>
                <a:path w="1157386" h="756323">
                  <a:moveTo>
                    <a:pt x="0" y="0"/>
                  </a:moveTo>
                  <a:lnTo>
                    <a:pt x="1157386" y="0"/>
                  </a:lnTo>
                  <a:lnTo>
                    <a:pt x="1157386" y="756323"/>
                  </a:lnTo>
                  <a:lnTo>
                    <a:pt x="0" y="756323"/>
                  </a:lnTo>
                  <a:close/>
                </a:path>
              </a:pathLst>
            </a:custGeom>
            <a:blipFill>
              <a:blip r:embed="rId2"/>
              <a:stretch>
                <a:fillRect t="-1073" b="-1073"/>
              </a:stretch>
            </a:blipFill>
            <a:ln w="19050" cap="sq">
              <a:solidFill>
                <a:srgbClr val="464646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7" name="AutoShape 7"/>
          <p:cNvSpPr/>
          <p:nvPr/>
        </p:nvSpPr>
        <p:spPr>
          <a:xfrm>
            <a:off x="1526447" y="1483859"/>
            <a:ext cx="1523755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8" name="AutoShape 8"/>
          <p:cNvSpPr/>
          <p:nvPr/>
        </p:nvSpPr>
        <p:spPr>
          <a:xfrm flipV="1">
            <a:off x="1524000" y="1483859"/>
            <a:ext cx="13716000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Box 9"/>
          <p:cNvSpPr txBox="1"/>
          <p:nvPr/>
        </p:nvSpPr>
        <p:spPr>
          <a:xfrm>
            <a:off x="1524000" y="2387642"/>
            <a:ext cx="15735300" cy="2369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60"/>
              </a:lnSpc>
            </a:pPr>
            <a:r>
              <a:rPr lang="en-US" sz="9517" b="1" spc="-666">
                <a:solidFill>
                  <a:srgbClr val="46464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Monetización: Billing Service y Modelos de Planes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6199533" y="2244767"/>
            <a:ext cx="408376" cy="408376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5201" tIns="35201" rIns="35201" bIns="35201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129032" y="5999084"/>
            <a:ext cx="7249616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12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Integración con pasarelas de pago externas mediante Webhooks.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 spc="-129">
              <a:solidFill>
                <a:srgbClr val="46464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129032" y="6834120"/>
            <a:ext cx="7021709" cy="1766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34" lvl="1" indent="-183517" algn="just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Matriz de Planes:</a:t>
            </a:r>
          </a:p>
          <a:p>
            <a:pPr marL="734068" lvl="2" indent="-244689" algn="just">
              <a:lnSpc>
                <a:spcPts val="2380"/>
              </a:lnSpc>
              <a:buFont typeface="Arial"/>
              <a:buChar char="⚬"/>
            </a:pPr>
            <a:r>
              <a:rPr lang="en-US" sz="17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FREE: 100 MB Storage | 3 Plugins | 100 Ejecuciones.</a:t>
            </a:r>
          </a:p>
          <a:p>
            <a:pPr marL="734068" lvl="2" indent="-244689" algn="just">
              <a:lnSpc>
                <a:spcPts val="2380"/>
              </a:lnSpc>
              <a:spcBef>
                <a:spcPct val="0"/>
              </a:spcBef>
              <a:buFont typeface="Arial"/>
              <a:buChar char="⚬"/>
            </a:pPr>
            <a:r>
              <a:rPr lang="en-US" sz="17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PRO: 10 GB Storage | 20 Plugins | 5,000 Ejecuciones.</a:t>
            </a:r>
          </a:p>
          <a:p>
            <a:pPr marL="734068" lvl="2" indent="-244689" algn="just">
              <a:lnSpc>
                <a:spcPts val="2380"/>
              </a:lnSpc>
              <a:spcBef>
                <a:spcPct val="0"/>
              </a:spcBef>
              <a:buFont typeface="Arial"/>
              <a:buChar char="⚬"/>
            </a:pPr>
            <a:r>
              <a:rPr lang="en-US" sz="1700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BUSINESS: 100 GB Storage | 50+ Plugins | 25,000+ Ejecuciones.</a:t>
            </a:r>
          </a:p>
          <a:p>
            <a:pPr algn="just">
              <a:lnSpc>
                <a:spcPts val="2380"/>
              </a:lnSpc>
              <a:spcBef>
                <a:spcPct val="0"/>
              </a:spcBef>
            </a:pPr>
            <a:endParaRPr lang="en-US" sz="1700">
              <a:solidFill>
                <a:srgbClr val="46464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09143" y="4347667"/>
            <a:ext cx="7620000" cy="18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98"/>
              </a:lnSpc>
            </a:pPr>
            <a:r>
              <a:rPr lang="en-US" sz="13734" b="1" spc="-961">
                <a:solidFill>
                  <a:srgbClr val="46464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Gracias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2529234" y="4388082"/>
            <a:ext cx="649623" cy="589339"/>
            <a:chOff x="0" y="0"/>
            <a:chExt cx="895941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5941" cy="812800"/>
            </a:xfrm>
            <a:custGeom>
              <a:avLst/>
              <a:gdLst/>
              <a:ahLst/>
              <a:cxnLst/>
              <a:rect l="l" t="t" r="r" b="b"/>
              <a:pathLst>
                <a:path w="895941" h="812800">
                  <a:moveTo>
                    <a:pt x="447970" y="0"/>
                  </a:moveTo>
                  <a:cubicBezTo>
                    <a:pt x="200563" y="0"/>
                    <a:pt x="0" y="181951"/>
                    <a:pt x="0" y="406400"/>
                  </a:cubicBezTo>
                  <a:cubicBezTo>
                    <a:pt x="0" y="630849"/>
                    <a:pt x="200563" y="812800"/>
                    <a:pt x="447970" y="812800"/>
                  </a:cubicBezTo>
                  <a:cubicBezTo>
                    <a:pt x="695378" y="812800"/>
                    <a:pt x="895941" y="630849"/>
                    <a:pt x="895941" y="406400"/>
                  </a:cubicBezTo>
                  <a:cubicBezTo>
                    <a:pt x="895941" y="181951"/>
                    <a:pt x="695378" y="0"/>
                    <a:pt x="44797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3994" y="38100"/>
              <a:ext cx="727952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884885" y="8523456"/>
            <a:ext cx="293972" cy="293972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3249780" y="8411626"/>
            <a:ext cx="3514220" cy="405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12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 Innovate. Connect. Grow.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526447" y="1483859"/>
            <a:ext cx="1523755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1" name="AutoShape 11"/>
          <p:cNvSpPr/>
          <p:nvPr/>
        </p:nvSpPr>
        <p:spPr>
          <a:xfrm>
            <a:off x="1524000" y="1483859"/>
            <a:ext cx="15240000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630</Words>
  <Application>Microsoft Office PowerPoint</Application>
  <PresentationFormat>Personalizado</PresentationFormat>
  <Paragraphs>69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Inter</vt:lpstr>
      <vt:lpstr>Telegraf</vt:lpstr>
      <vt:lpstr>Calibri</vt:lpstr>
      <vt:lpstr>Telegraf Medium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Plataforma de Automatización Extensible</dc:title>
  <cp:lastModifiedBy>Diego Quioza</cp:lastModifiedBy>
  <cp:revision>2</cp:revision>
  <dcterms:created xsi:type="dcterms:W3CDTF">2006-08-16T00:00:00Z</dcterms:created>
  <dcterms:modified xsi:type="dcterms:W3CDTF">2026-08-20T23:26:51Z</dcterms:modified>
  <dc:identifier>DAHS2wjmhjc</dc:identifier>
</cp:coreProperties>
</file>